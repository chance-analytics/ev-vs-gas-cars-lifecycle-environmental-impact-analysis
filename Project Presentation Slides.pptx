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aleway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bold.fntdata"/><Relationship Id="rId16" Type="http://schemas.openxmlformats.org/officeDocument/2006/relationships/font" Target="fonts/Ralew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boldItalic.fntdata"/><Relationship Id="rId6" Type="http://schemas.openxmlformats.org/officeDocument/2006/relationships/slide" Target="slides/slide1.xml"/><Relationship Id="rId18" Type="http://schemas.openxmlformats.org/officeDocument/2006/relationships/font" Target="fonts/Ralew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b826e058e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b826e058e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b826e058e7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b826e058e7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b826e058e7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b826e058e7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b826e058e7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b826e058e7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b826e058e7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b826e058e7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b826e058e7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b826e058e7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b826e058e7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b826e058e7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b826e058e7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b826e058e7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b826e058e7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b826e058e7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Electric Vehicles vs. Gas Cars: A Comparative Analysis of Environmental Impact</a:t>
            </a:r>
            <a:endParaRPr sz="24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Zicheng (Chance) Xu</a:t>
            </a:r>
            <a:endParaRPr sz="7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MS Data Science, Bellevue University</a:t>
            </a:r>
            <a:endParaRPr sz="7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DSC500: Introduction to Data Science</a:t>
            </a:r>
            <a:endParaRPr sz="7200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/>
              <a:t>Professor: Matthew Metzger</a:t>
            </a:r>
            <a:endParaRPr sz="7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70275" y="4920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Project Overview</a:t>
            </a:r>
            <a:endParaRPr sz="2040"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70275" y="1261950"/>
            <a:ext cx="7688700" cy="26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Project Goal: Analyze the environmental impact of gas cars (78% of global sales) vs full-electric cars (4.5% of global sales)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Project Process: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Google Trend on people’s </a:t>
            </a:r>
            <a:r>
              <a:rPr lang="en" sz="1300"/>
              <a:t>interests</a:t>
            </a:r>
            <a:r>
              <a:rPr lang="en" sz="1300"/>
              <a:t> in car emissions and environmental impact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CO2 life-cycle emission comparison analysis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Raw material production process emission comparison analysis (Excluding CO2)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Manufacturing process emission comparison analysis (Excluding CO2)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Operation process emission comparison analysis (Excluding CO2)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Disposal process emission comparison analysis (Excluding CO2)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Expansional Discussions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Ethical </a:t>
            </a:r>
            <a:r>
              <a:rPr lang="en" sz="1300"/>
              <a:t>concerns on the shift to the EV market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Challenges and opportunities of the EV market</a:t>
            </a:r>
            <a:endParaRPr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Google Trend on people’s interests in car emissions and environmental impact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4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‘electric car environment impact’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‘gas car environmental impact’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‘car emission’</a:t>
            </a:r>
            <a:endParaRPr/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5225" y="1397475"/>
            <a:ext cx="4922078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5213" y="2509700"/>
            <a:ext cx="4962095" cy="101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49238" y="3672950"/>
            <a:ext cx="5734050" cy="120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CO2 life-cycle emission comparison analysis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40"/>
          </a:p>
        </p:txBody>
      </p:sp>
      <p:sp>
        <p:nvSpPr>
          <p:cNvPr id="108" name="Google Shape;108;p16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Estimate: The estimated total greenhouse gas emission grams per mile for gas cars is approximately </a:t>
            </a:r>
            <a:r>
              <a:rPr b="1" lang="en" u="sng"/>
              <a:t>twice</a:t>
            </a:r>
            <a:r>
              <a:rPr lang="en"/>
              <a:t> that of EVs (factoring in emissions from mineral and metal extractions, etc.)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</a:t>
            </a:r>
            <a:r>
              <a:rPr lang="en"/>
              <a:t>s the EV sector decarbonizes and improves battery manufacturing efficiency, this disparity is expected to widen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7954" y="2316600"/>
            <a:ext cx="4548084" cy="25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Raw material production process emission comparison analysis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40"/>
          </a:p>
        </p:txBody>
      </p:sp>
      <p:sp>
        <p:nvSpPr>
          <p:cNvPr id="115" name="Google Shape;115;p17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EVs: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Main materials used to battery packs: lithium, cobalt, manganese, nickel, and graphite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Average battery with a 60 kWh capacity: Contains about 52 kg of Graphite, 35 kg of Aluminum, 29 kg of Nickel, 20 kg of Copper, and 20 kg of Steel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Known facts: 99 g emissions excluding CO2 / 1000 g Graphite production; the most carbon-intensive manufacturing process: Steel production; average battery weight: 1000 lbs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Estimation: Assuming Aluminum, Nickel, Copper and Steel produce the same CO per unit of production:</a:t>
            </a:r>
            <a:r>
              <a:rPr b="1" lang="en" sz="1400"/>
              <a:t> 2.6 tons of CO / 1 ton of battery pack production</a:t>
            </a:r>
            <a:r>
              <a:rPr lang="en" sz="1400"/>
              <a:t>; </a:t>
            </a:r>
            <a:r>
              <a:rPr b="1" lang="en" sz="1400"/>
              <a:t>CO emission: 2,600 lbs / car</a:t>
            </a:r>
            <a:endParaRPr b="1" sz="1400"/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400"/>
              <a:t>Gas Cars: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Main materials used for engines: iron base alloys such as structural steel, stainless steel, iron base sintered metals, and cast iron and aluminum alloy parts for the piston, cylinder head, and cylinder block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Converter gas created from pig iron during the steel production process: about 65% carbon monoxide (CO) and 15% carbon dioxide (CO2)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Known facts: about 1.4 tons of direct direct CO2 emission / 1 ton of steel produced; average engine weight: 350 lbs</a:t>
            </a:r>
            <a:endParaRPr sz="1400"/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400"/>
              <a:t>Estimation: </a:t>
            </a:r>
            <a:r>
              <a:rPr b="1" lang="en" sz="1400"/>
              <a:t>6 tons of CO / 1 ton of steel produced</a:t>
            </a:r>
            <a:r>
              <a:rPr lang="en" sz="1400"/>
              <a:t>;</a:t>
            </a:r>
            <a:r>
              <a:rPr b="1" lang="en" sz="1400"/>
              <a:t> CO emission: 2,100 lbs / car</a:t>
            </a:r>
            <a:endParaRPr b="1"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Manufacturing process emission comparison analysis </a:t>
            </a:r>
            <a:endParaRPr sz="204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040"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Known Facts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Production byproducts: vapors such as volatile organic compounds, resin monomers, and particles, as well as fumes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Harmful effects: short-term: sickness such as irritation and headaches; prolonged contact: damage to the liver, kidneys, and central </a:t>
            </a:r>
            <a:r>
              <a:rPr lang="en" sz="1300"/>
              <a:t>nervous</a:t>
            </a:r>
            <a:r>
              <a:rPr lang="en" sz="1300"/>
              <a:t> system; worst case: some volatile organic compounds such as benzene and ethyl benzene can cause cancer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EV productions require </a:t>
            </a:r>
            <a:r>
              <a:rPr b="1" lang="en" sz="1300"/>
              <a:t>30% to 40% less labor</a:t>
            </a:r>
            <a:r>
              <a:rPr lang="en" sz="1300"/>
              <a:t> than gasoline cars, as EVs require fewer parts than gas cars.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Conclusion Estimation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EV manufacturing process generates fewer harmful byproducts than the gas car manufacturing process.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9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Operation process emission comparison analysis</a:t>
            </a:r>
            <a:endParaRPr sz="2040"/>
          </a:p>
        </p:txBody>
      </p:sp>
      <p:sp>
        <p:nvSpPr>
          <p:cNvPr id="127" name="Google Shape;127;p19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Assumption: Negligible, as EVs don’t have tailpipes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Gas Cars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Known facts about small gas cars: average of </a:t>
            </a:r>
            <a:r>
              <a:rPr b="1" lang="en" sz="1300"/>
              <a:t>575 pounds of CO emission / 1 year usage</a:t>
            </a:r>
            <a:r>
              <a:rPr lang="en" sz="1300"/>
              <a:t>; about 4.43 g harmful byproducts besides CO2 / 1 mile driven; the byproducts include Hydrocarbons, Carbon monoxide (3.9 g), Nitrogen oxides, and particulate matter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Estimation: </a:t>
            </a:r>
            <a:r>
              <a:rPr b="1" lang="en" sz="1300"/>
              <a:t>78 lbs of Hydrocarbons, Nitrogen oxides, and particulate matter emission / 1 year usage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Disposal process emission comparison analysis</a:t>
            </a:r>
            <a:endParaRPr sz="2040"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Assumptions/Facts: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Since EVs require fewer parts than gas cars, during the disposal process itself, such as shredding and recycling, although it can generate emissions and pollutants, EVs will emit less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Since vehicle is made out of about 75% metal, most of which will be recyclable, we will compare battery disposal from EVs vs fluids and non-recyclable materials from gas cars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Known estimation of average landfill biogas emission: 150 m^3/103 kg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Known Facts: average battery weight: 1000 lbs (455 kg)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Estimation: </a:t>
            </a:r>
            <a:r>
              <a:rPr b="1" lang="en" sz="1300"/>
              <a:t>663 m^3 landfill disposal emission / 1 car; around 1,796 lbs CO / 1 car assuming all are CO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Gas Cars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Known Facts: estimated volume of hazardous fluids in discarded vehicles: 18.7 liters per vehicle at disposal (about 15.84 kg using cooking oil density as an estimated ingredient) 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Estimation: </a:t>
            </a:r>
            <a:r>
              <a:rPr b="1" lang="en" sz="1300"/>
              <a:t>23 m^3 landfill disposal emission / 1 car; around 62 lbs CO / 1 car assuming all are CO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Total estimated life-cycle CO emission</a:t>
            </a:r>
            <a:endParaRPr sz="2040"/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Assumptions/Facts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Both EVs and gas cars have a life of 15 years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EV manufacturing generates fewer harmful emissions during the manufacturing process than gas cars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EVs (manufacturing process not included)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2,600 lbs + 1,796 lbs = 4,396 lbs </a:t>
            </a:r>
            <a:endParaRPr b="1"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Gas Cars (</a:t>
            </a:r>
            <a:r>
              <a:rPr lang="en"/>
              <a:t>manufacturing process not included</a:t>
            </a:r>
            <a:r>
              <a:rPr lang="en"/>
              <a:t>)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" sz="1300"/>
              <a:t>2,100 lbs + 575 lbs*15 years + 62 lbs = 10,787 lbs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727650" y="4818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40"/>
              <a:t>Expansional Discussions</a:t>
            </a:r>
            <a:endParaRPr sz="2040"/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727650" y="1262450"/>
            <a:ext cx="7688700" cy="37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Ethical concerns on the shift to the EV market</a:t>
            </a:r>
            <a:endParaRPr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300" u="sng"/>
              <a:t>Data privacy</a:t>
            </a:r>
            <a:r>
              <a:rPr lang="en" sz="1300"/>
              <a:t>: EVs gather significant data about driving habits, locations, and charging behaviors; The autonomous driving system of a Tesla allows it to collect up to 19 TBs of data per day from an array of sensors and cameras</a:t>
            </a:r>
            <a:endParaRPr sz="1300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300" u="sng"/>
              <a:t>Ethical disposal and recycling of batteries</a:t>
            </a:r>
            <a:endParaRPr sz="1300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300" u="sng"/>
              <a:t>Job losses</a:t>
            </a:r>
            <a:r>
              <a:rPr lang="en" sz="1300"/>
              <a:t>: Less labor is required</a:t>
            </a:r>
            <a:endParaRPr sz="1300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300" u="sng"/>
              <a:t>Labor abuse and human rights</a:t>
            </a:r>
            <a:r>
              <a:rPr lang="en" sz="1300"/>
              <a:t>: Democratic Republic of Congo (DRC) accounts for over 50% of the world’s cobalt reserves; estimation of the 255,000 Congolese mining for cobalt: 40,000 are children, with some as young as six years</a:t>
            </a:r>
            <a:endParaRPr sz="1300"/>
          </a:p>
          <a:p>
            <a:pPr indent="-30495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Challenges and opportunities of the EV market</a:t>
            </a:r>
            <a:endParaRPr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300" u="sng"/>
              <a:t>Opportunities</a:t>
            </a:r>
            <a:r>
              <a:rPr lang="en" sz="1300"/>
              <a:t>: &gt; 20% annual EV market growth rate; New Zealand startup CarbonScape: can turn 7 tons of dry wood chips (compared to fossil fuels) into a form of synthetic graphite at 1 ton in hours (compared to weeks) and significantly reduces harmful  byproducts emission; Chinese EV Maker NIO offers battery swap technology which take 3 minutes</a:t>
            </a:r>
            <a:endParaRPr sz="1300"/>
          </a:p>
          <a:p>
            <a:pPr indent="-304958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300" u="sng"/>
              <a:t>Challenges</a:t>
            </a:r>
            <a:r>
              <a:rPr lang="en" sz="1300"/>
              <a:t>: Average time spent as gas station: 8 minutes vs 30 min using rapid charger for 241 miles range; Typical home charging points: take 11 - 21 hours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